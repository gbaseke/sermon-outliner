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7" r:id="rId3"/>
    <p:sldId id="278" r:id="rId4"/>
    <p:sldId id="272" r:id="rId5"/>
    <p:sldId id="273" r:id="rId6"/>
    <p:sldId id="257" r:id="rId7"/>
    <p:sldId id="258" r:id="rId8"/>
    <p:sldId id="274" r:id="rId9"/>
    <p:sldId id="275" r:id="rId10"/>
    <p:sldId id="276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C4D0B4-6BCC-654F-BE87-0D1AEFCFBC02}" v="5" dt="2026-04-22T02:14:50.4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6327"/>
  </p:normalViewPr>
  <p:slideViewPr>
    <p:cSldViewPr snapToGrid="0">
      <p:cViewPr varScale="1">
        <p:scale>
          <a:sx n="128" d="100"/>
          <a:sy n="128" d="100"/>
        </p:scale>
        <p:origin x="200" y="176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85988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6/11/relationships/changesInfo" Target="changesInfos/changesInfo1.xml"/><Relationship Id="rId31" Type="http://schemas.microsoft.com/office/2015/10/relationships/revisionInfo" Target="revisionInfo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y Baseke" userId="4d81c492162fbd4e" providerId="LiveId" clId="{9B8AB72E-4E06-57D6-9EF2-F08899753D8C}"/>
    <pc:docChg chg="custSel addSld modSld">
      <pc:chgData name="Guy Baseke" userId="4d81c492162fbd4e" providerId="LiveId" clId="{9B8AB72E-4E06-57D6-9EF2-F08899753D8C}" dt="2026-04-22T02:16:32.146" v="26" actId="207"/>
      <pc:docMkLst>
        <pc:docMk/>
      </pc:docMkLst>
      <pc:sldChg chg="modSp new mod">
        <pc:chgData name="Guy Baseke" userId="4d81c492162fbd4e" providerId="LiveId" clId="{9B8AB72E-4E06-57D6-9EF2-F08899753D8C}" dt="2026-04-22T02:15:01.891" v="23" actId="207"/>
        <pc:sldMkLst>
          <pc:docMk/>
          <pc:sldMk cId="3081384673" sldId="277"/>
        </pc:sldMkLst>
        <pc:spChg chg="mod">
          <ac:chgData name="Guy Baseke" userId="4d81c492162fbd4e" providerId="LiveId" clId="{9B8AB72E-4E06-57D6-9EF2-F08899753D8C}" dt="2026-04-22T02:14:02.301" v="7" actId="20577"/>
          <ac:spMkLst>
            <pc:docMk/>
            <pc:sldMk cId="3081384673" sldId="277"/>
            <ac:spMk id="2" creationId="{6B95468A-4A98-DEE0-EC44-ED93037526E1}"/>
          </ac:spMkLst>
        </pc:spChg>
        <pc:spChg chg="mod">
          <ac:chgData name="Guy Baseke" userId="4d81c492162fbd4e" providerId="LiveId" clId="{9B8AB72E-4E06-57D6-9EF2-F08899753D8C}" dt="2026-04-22T02:15:01.891" v="23" actId="207"/>
          <ac:spMkLst>
            <pc:docMk/>
            <pc:sldMk cId="3081384673" sldId="277"/>
            <ac:spMk id="3" creationId="{20005732-45F4-A630-11F3-50955ED6C3C3}"/>
          </ac:spMkLst>
        </pc:spChg>
      </pc:sldChg>
      <pc:sldChg chg="modSp add mod">
        <pc:chgData name="Guy Baseke" userId="4d81c492162fbd4e" providerId="LiveId" clId="{9B8AB72E-4E06-57D6-9EF2-F08899753D8C}" dt="2026-04-22T02:16:32.146" v="26" actId="207"/>
        <pc:sldMkLst>
          <pc:docMk/>
          <pc:sldMk cId="3998903602" sldId="278"/>
        </pc:sldMkLst>
        <pc:spChg chg="mod">
          <ac:chgData name="Guy Baseke" userId="4d81c492162fbd4e" providerId="LiveId" clId="{9B8AB72E-4E06-57D6-9EF2-F08899753D8C}" dt="2026-04-22T02:16:32.146" v="26" actId="207"/>
          <ac:spMkLst>
            <pc:docMk/>
            <pc:sldMk cId="3998903602" sldId="278"/>
            <ac:spMk id="3" creationId="{6845FC07-FA32-1D58-7383-C56FF42651D7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6B89E-8738-453B-B5F0-76095002A105}" type="datetimeFigureOut">
              <a:rPr lang="en-CA" smtClean="0"/>
              <a:t>2026-04-21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CE963-1D38-443D-8845-15B6A1CFD6FD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22269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82AF0-944C-4D1C-BDE4-E55CE196CA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019D9B-8F0C-4452-9236-58653D3C52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A16F9-7F63-4603-AF84-09F680414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5592-F1D9-42A7-B6F5-C39609D6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48FE3-A9C1-4086-A277-9AB4942BC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7F56-3B83-48D0-B949-62A434334199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92523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47C5E49-6E32-42BB-95B2-30AD7BA149A4}"/>
              </a:ext>
            </a:extLst>
          </p:cNvPr>
          <p:cNvSpPr/>
          <p:nvPr userDrawn="1"/>
        </p:nvSpPr>
        <p:spPr>
          <a:xfrm>
            <a:off x="231057" y="5841572"/>
            <a:ext cx="1784555" cy="898844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D91CC38-7E5C-4BBA-87A1-40C937E8B13D}"/>
              </a:ext>
            </a:extLst>
          </p:cNvPr>
          <p:cNvSpPr/>
          <p:nvPr userDrawn="1"/>
        </p:nvSpPr>
        <p:spPr>
          <a:xfrm>
            <a:off x="0" y="5844479"/>
            <a:ext cx="12192000" cy="982417"/>
          </a:xfrm>
          <a:custGeom>
            <a:avLst/>
            <a:gdLst>
              <a:gd name="connsiteX0" fmla="*/ 0 w 12192000"/>
              <a:gd name="connsiteY0" fmla="*/ 0 h 982417"/>
              <a:gd name="connsiteX1" fmla="*/ 338556 w 12192000"/>
              <a:gd name="connsiteY1" fmla="*/ 0 h 982417"/>
              <a:gd name="connsiteX2" fmla="*/ 334297 w 12192000"/>
              <a:gd name="connsiteY2" fmla="*/ 42244 h 982417"/>
              <a:gd name="connsiteX3" fmla="*/ 1000297 w 12192000"/>
              <a:gd name="connsiteY3" fmla="*/ 708244 h 982417"/>
              <a:gd name="connsiteX4" fmla="*/ 1666297 w 12192000"/>
              <a:gd name="connsiteY4" fmla="*/ 42244 h 982417"/>
              <a:gd name="connsiteX5" fmla="*/ 1662039 w 12192000"/>
              <a:gd name="connsiteY5" fmla="*/ 0 h 982417"/>
              <a:gd name="connsiteX6" fmla="*/ 12192000 w 12192000"/>
              <a:gd name="connsiteY6" fmla="*/ 0 h 982417"/>
              <a:gd name="connsiteX7" fmla="*/ 12192000 w 12192000"/>
              <a:gd name="connsiteY7" fmla="*/ 982417 h 982417"/>
              <a:gd name="connsiteX8" fmla="*/ 0 w 12192000"/>
              <a:gd name="connsiteY8" fmla="*/ 982417 h 982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982417">
                <a:moveTo>
                  <a:pt x="0" y="0"/>
                </a:moveTo>
                <a:lnTo>
                  <a:pt x="338556" y="0"/>
                </a:lnTo>
                <a:lnTo>
                  <a:pt x="334297" y="42244"/>
                </a:lnTo>
                <a:cubicBezTo>
                  <a:pt x="334297" y="410066"/>
                  <a:pt x="632475" y="708244"/>
                  <a:pt x="1000297" y="708244"/>
                </a:cubicBezTo>
                <a:cubicBezTo>
                  <a:pt x="1368119" y="708244"/>
                  <a:pt x="1666297" y="410066"/>
                  <a:pt x="1666297" y="42244"/>
                </a:cubicBezTo>
                <a:lnTo>
                  <a:pt x="1662039" y="0"/>
                </a:lnTo>
                <a:lnTo>
                  <a:pt x="12192000" y="0"/>
                </a:lnTo>
                <a:lnTo>
                  <a:pt x="12192000" y="982417"/>
                </a:lnTo>
                <a:lnTo>
                  <a:pt x="0" y="982417"/>
                </a:lnTo>
                <a:close/>
              </a:path>
            </a:pathLst>
          </a:custGeom>
          <a:solidFill>
            <a:srgbClr val="261B1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 dirty="0"/>
          </a:p>
        </p:txBody>
      </p:sp>
      <p:pic>
        <p:nvPicPr>
          <p:cNvPr id="16" name="Graphic 15" descr="Open quotation mark outline">
            <a:extLst>
              <a:ext uri="{FF2B5EF4-FFF2-40B4-BE49-F238E27FC236}">
                <a16:creationId xmlns:a16="http://schemas.microsoft.com/office/drawing/2014/main" id="{4A0508B7-F94A-405F-A42B-E30BEB8EDA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40361" y="-116368"/>
            <a:ext cx="914400" cy="914400"/>
          </a:xfrm>
          <a:prstGeom prst="rect">
            <a:avLst/>
          </a:prstGeom>
        </p:spPr>
      </p:pic>
      <p:sp>
        <p:nvSpPr>
          <p:cNvPr id="19" name="Partial Circle 18">
            <a:extLst>
              <a:ext uri="{FF2B5EF4-FFF2-40B4-BE49-F238E27FC236}">
                <a16:creationId xmlns:a16="http://schemas.microsoft.com/office/drawing/2014/main" id="{A5AFA295-5305-4D36-9FA1-AC399C3C2C80}"/>
              </a:ext>
            </a:extLst>
          </p:cNvPr>
          <p:cNvSpPr/>
          <p:nvPr userDrawn="1"/>
        </p:nvSpPr>
        <p:spPr>
          <a:xfrm>
            <a:off x="449430" y="5719896"/>
            <a:ext cx="1116000" cy="1116000"/>
          </a:xfrm>
          <a:prstGeom prst="pie">
            <a:avLst>
              <a:gd name="adj1" fmla="val 137177"/>
              <a:gd name="adj2" fmla="val 73541"/>
            </a:avLst>
          </a:prstGeom>
          <a:noFill/>
          <a:ln w="57150">
            <a:solidFill>
              <a:srgbClr val="D5A3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pic>
        <p:nvPicPr>
          <p:cNvPr id="7" name="Google Shape;32;p6">
            <a:extLst>
              <a:ext uri="{FF2B5EF4-FFF2-40B4-BE49-F238E27FC236}">
                <a16:creationId xmlns:a16="http://schemas.microsoft.com/office/drawing/2014/main" id="{278E9752-7F7D-4F0A-86BD-2648F74281B3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77427" y="5737896"/>
            <a:ext cx="1080000" cy="1080000"/>
          </a:xfrm>
          <a:prstGeom prst="flowChartConnector">
            <a:avLst/>
          </a:prstGeom>
          <a:noFill/>
          <a:ln>
            <a:noFill/>
          </a:ln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6BA902B-E7FF-463B-9FC1-4F27175AB2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1731" y="5954840"/>
            <a:ext cx="10179212" cy="78557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rgbClr val="EBC57C"/>
                </a:solidFill>
              </a:rPr>
              <a:t>Sermon Title</a:t>
            </a:r>
          </a:p>
          <a:p>
            <a:r>
              <a:rPr lang="en-US" dirty="0">
                <a:solidFill>
                  <a:srgbClr val="EBC57C"/>
                </a:solidFill>
              </a:rPr>
              <a:t>Bro William Marrion Branham</a:t>
            </a:r>
            <a:endParaRPr lang="en-CA" dirty="0">
              <a:solidFill>
                <a:srgbClr val="EBC57C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2C48AF-B122-BE64-90B9-18632B04F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5763" y="673100"/>
            <a:ext cx="10496282" cy="4960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36721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ip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5B70D92-C8CE-4CB4-B69D-2D7E305E5930}"/>
              </a:ext>
            </a:extLst>
          </p:cNvPr>
          <p:cNvSpPr/>
          <p:nvPr userDrawn="1"/>
        </p:nvSpPr>
        <p:spPr>
          <a:xfrm>
            <a:off x="875763" y="188006"/>
            <a:ext cx="10502722" cy="770799"/>
          </a:xfrm>
          <a:custGeom>
            <a:avLst/>
            <a:gdLst>
              <a:gd name="connsiteX0" fmla="*/ 0 w 10392697"/>
              <a:gd name="connsiteY0" fmla="*/ 0 h 982417"/>
              <a:gd name="connsiteX1" fmla="*/ 10392697 w 10392697"/>
              <a:gd name="connsiteY1" fmla="*/ 0 h 982417"/>
              <a:gd name="connsiteX2" fmla="*/ 10392697 w 10392697"/>
              <a:gd name="connsiteY2" fmla="*/ 982417 h 982417"/>
              <a:gd name="connsiteX3" fmla="*/ 0 w 10392697"/>
              <a:gd name="connsiteY3" fmla="*/ 982417 h 982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92697" h="982417">
                <a:moveTo>
                  <a:pt x="0" y="0"/>
                </a:moveTo>
                <a:lnTo>
                  <a:pt x="10392697" y="0"/>
                </a:lnTo>
                <a:lnTo>
                  <a:pt x="10392697" y="982417"/>
                </a:lnTo>
                <a:lnTo>
                  <a:pt x="0" y="982417"/>
                </a:lnTo>
                <a:close/>
              </a:path>
            </a:pathLst>
          </a:custGeom>
          <a:solidFill>
            <a:srgbClr val="261B1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6BA902B-E7FF-463B-9FC1-4F27175AB2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8845" y="296273"/>
            <a:ext cx="10174310" cy="55426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0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>
                <a:solidFill>
                  <a:srgbClr val="EBC57C"/>
                </a:solidFill>
              </a:rPr>
              <a:t>Scripture</a:t>
            </a:r>
            <a:endParaRPr lang="en-CA" dirty="0">
              <a:solidFill>
                <a:srgbClr val="EBC57C"/>
              </a:solidFill>
            </a:endParaRPr>
          </a:p>
        </p:txBody>
      </p:sp>
      <p:pic>
        <p:nvPicPr>
          <p:cNvPr id="4" name="Graphic 3" descr="Open book outline">
            <a:extLst>
              <a:ext uri="{FF2B5EF4-FFF2-40B4-BE49-F238E27FC236}">
                <a16:creationId xmlns:a16="http://schemas.microsoft.com/office/drawing/2014/main" id="{8C103661-8C0E-4C48-879F-F71F24A0CD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883" y="298173"/>
            <a:ext cx="660632" cy="660632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5E70D9-1CF0-A044-9524-1705FB8AC8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5763" y="1143000"/>
            <a:ext cx="10496282" cy="5080000"/>
          </a:xfrm>
        </p:spPr>
        <p:txBody>
          <a:bodyPr>
            <a:normAutofit/>
          </a:bodyPr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31836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5B70D92-C8CE-4CB4-B69D-2D7E305E5930}"/>
              </a:ext>
            </a:extLst>
          </p:cNvPr>
          <p:cNvSpPr/>
          <p:nvPr userDrawn="1"/>
        </p:nvSpPr>
        <p:spPr>
          <a:xfrm>
            <a:off x="875763" y="167163"/>
            <a:ext cx="10483403" cy="770799"/>
          </a:xfrm>
          <a:custGeom>
            <a:avLst/>
            <a:gdLst>
              <a:gd name="connsiteX0" fmla="*/ 0 w 10392697"/>
              <a:gd name="connsiteY0" fmla="*/ 0 h 982417"/>
              <a:gd name="connsiteX1" fmla="*/ 10392697 w 10392697"/>
              <a:gd name="connsiteY1" fmla="*/ 0 h 982417"/>
              <a:gd name="connsiteX2" fmla="*/ 10392697 w 10392697"/>
              <a:gd name="connsiteY2" fmla="*/ 982417 h 982417"/>
              <a:gd name="connsiteX3" fmla="*/ 0 w 10392697"/>
              <a:gd name="connsiteY3" fmla="*/ 982417 h 982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92697" h="982417">
                <a:moveTo>
                  <a:pt x="0" y="0"/>
                </a:moveTo>
                <a:lnTo>
                  <a:pt x="10392697" y="0"/>
                </a:lnTo>
                <a:lnTo>
                  <a:pt x="10392697" y="982417"/>
                </a:lnTo>
                <a:lnTo>
                  <a:pt x="0" y="982417"/>
                </a:lnTo>
                <a:close/>
              </a:path>
            </a:pathLst>
          </a:custGeom>
          <a:solidFill>
            <a:srgbClr val="261B1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6BA902B-E7FF-463B-9FC1-4F27175AB2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30310" y="275430"/>
            <a:ext cx="10174310" cy="55426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0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>
                <a:solidFill>
                  <a:srgbClr val="EBC57C"/>
                </a:solidFill>
              </a:rPr>
              <a:t>Notes</a:t>
            </a:r>
            <a:endParaRPr lang="en-CA" dirty="0">
              <a:solidFill>
                <a:srgbClr val="EBC57C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5E70D9-1CF0-A044-9524-1705FB8AC8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5763" y="1143000"/>
            <a:ext cx="10483403" cy="5080000"/>
          </a:xfrm>
        </p:spPr>
        <p:txBody>
          <a:bodyPr>
            <a:normAutofit/>
          </a:bodyPr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pic>
        <p:nvPicPr>
          <p:cNvPr id="6" name="Graphic 5" descr="Scribble outline">
            <a:extLst>
              <a:ext uri="{FF2B5EF4-FFF2-40B4-BE49-F238E27FC236}">
                <a16:creationId xmlns:a16="http://schemas.microsoft.com/office/drawing/2014/main" id="{A42C7E05-8685-C0F0-359A-12C497C81A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85" y="275430"/>
            <a:ext cx="610232" cy="61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77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467473" cy="713874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599308"/>
            <a:ext cx="10467473" cy="4981073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4000"/>
            </a:lvl1pPr>
            <a:lvl2pPr>
              <a:defRPr sz="3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2886" y="6202556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337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2886" y="6202556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8092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D92BB1-4891-4A80-8E2D-69C0EF20E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6B683-AFA6-4AB3-98B9-E9B690426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4E79B-F08B-4977-BF4E-7638943384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agona Book" panose="02020503050505020204" pitchFamily="18" charset="0"/>
              </a:defRPr>
            </a:lvl1pPr>
          </a:lstStyle>
          <a:p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C0286-5E20-4B22-AF28-99C8EAB5F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agona Book" panose="02020503050505020204" pitchFamily="18" charset="0"/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A3B59-CF00-446F-A806-7E66B8CA0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accent2">
                    <a:lumMod val="60000"/>
                    <a:lumOff val="40000"/>
                  </a:schemeClr>
                </a:solidFill>
                <a:latin typeface="Sagona Book" panose="02020503050505020204" pitchFamily="18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3557F56-3B83-48D0-B949-62A434334199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oogle Shape;9;p1">
            <a:extLst>
              <a:ext uri="{FF2B5EF4-FFF2-40B4-BE49-F238E27FC236}">
                <a16:creationId xmlns:a16="http://schemas.microsoft.com/office/drawing/2014/main" id="{6D8217A4-3191-FB43-E668-19CCEE0FCCDA}"/>
              </a:ext>
            </a:extLst>
          </p:cNvPr>
          <p:cNvPicPr preferRelativeResize="0"/>
          <p:nvPr userDrawn="1"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11595000" y="6356350"/>
            <a:ext cx="432000" cy="43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695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3" r:id="rId3"/>
    <p:sldLayoutId id="2147483666" r:id="rId4"/>
    <p:sldLayoutId id="2147483667" r:id="rId5"/>
    <p:sldLayoutId id="214748366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agona Book" panose="020205030505050202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Sagona Book" panose="020205030505050202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Sagona Book" panose="020205030505050202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Sagona Book" panose="020205030505050202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agona Book" panose="020205030505050202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agona Book" panose="0202050305050502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muslimsincalgary.ca/cherish-your-wife-the-prophets-way-10-hadiths/" TargetMode="External"/><Relationship Id="rId3" Type="http://schemas.openxmlformats.org/officeDocument/2006/relationships/hyperlink" Target="https://creativecommons.org/licenses/by-nc-sa/3.0/" TargetMode="External"/><Relationship Id="rId4" Type="http://schemas.openxmlformats.org/officeDocument/2006/relationships/image" Target="../media/image7.jpeg"/><Relationship Id="rId5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3D630F8-27F7-4141-8FDB-9C4CDFD2546E}"/>
              </a:ext>
            </a:extLst>
          </p:cNvPr>
          <p:cNvSpPr txBox="1"/>
          <p:nvPr/>
        </p:nvSpPr>
        <p:spPr>
          <a:xfrm>
            <a:off x="9751908" y="6656924"/>
            <a:ext cx="244009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CA" sz="700" dirty="0">
                <a:solidFill>
                  <a:srgbClr val="FFFFFF"/>
                </a:solidFill>
                <a:hlinkClick r:id="rId2" tooltip="http://muslimsincalgary.ca/cherish-your-wife-the-prophets-way-10-hadith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CA" sz="700" dirty="0">
                <a:solidFill>
                  <a:srgbClr val="FFFFFF"/>
                </a:solidFill>
              </a:rPr>
              <a:t> by Unknown Author is licensed under </a:t>
            </a:r>
            <a:r>
              <a:rPr lang="en-CA" sz="700" dirty="0">
                <a:solidFill>
                  <a:srgbClr val="FFFFFF"/>
                </a:solidFill>
                <a:hlinkClick r:id="rId3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CA" sz="700" dirty="0">
              <a:solidFill>
                <a:srgbClr val="FFFFFF"/>
              </a:solidFill>
            </a:endParaRPr>
          </a:p>
        </p:txBody>
      </p:sp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tree with pink flowers&#10;&#10;Description automatically generated with medium confidence">
            <a:extLst>
              <a:ext uri="{FF2B5EF4-FFF2-40B4-BE49-F238E27FC236}">
                <a16:creationId xmlns:a16="http://schemas.microsoft.com/office/drawing/2014/main" id="{9C2E63B4-20FB-4917-AC84-171CFC6A463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40000"/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 l="891" r="-1" b="-1"/>
          <a:stretch/>
        </p:blipFill>
        <p:spPr>
          <a:xfrm>
            <a:off x="3132160" y="1021"/>
            <a:ext cx="9059839" cy="68559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4075F9-BAAD-45DF-9DEF-24924D103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6100" y="1099671"/>
            <a:ext cx="4972511" cy="3367554"/>
          </a:xfrm>
        </p:spPr>
        <p:txBody>
          <a:bodyPr anchor="b">
            <a:normAutofit/>
          </a:bodyPr>
          <a:lstStyle/>
          <a:p>
            <a:pPr algn="l"/>
            <a:r>
              <a:rPr lang="en-US" sz="6600" b="1" dirty="0"/>
              <a:t>God’s solutions to burnout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D21F46-27C7-4903-8629-828E776094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6100" y="4687316"/>
            <a:ext cx="4972512" cy="151708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Guy Baseke</a:t>
            </a:r>
          </a:p>
          <a:p>
            <a:pPr algn="l"/>
            <a:r>
              <a:rPr lang="en-US" dirty="0"/>
              <a:t>Grace Message Tabernacle, Mississauga, Ontario</a:t>
            </a:r>
            <a:endParaRPr lang="en-CA" dirty="0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9453FF84-60C1-4EA8-B49B-1B8C2D0C5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5859484" cy="6857997"/>
          </a:xfrm>
          <a:custGeom>
            <a:avLst/>
            <a:gdLst>
              <a:gd name="connsiteX0" fmla="*/ 3198825 w 5859484"/>
              <a:gd name="connsiteY0" fmla="*/ 0 h 6857997"/>
              <a:gd name="connsiteX1" fmla="*/ 3962351 w 5859484"/>
              <a:gd name="connsiteY1" fmla="*/ 0 h 6857997"/>
              <a:gd name="connsiteX2" fmla="*/ 4129776 w 5859484"/>
              <a:gd name="connsiteY2" fmla="*/ 128761 h 6857997"/>
              <a:gd name="connsiteX3" fmla="*/ 5859484 w 5859484"/>
              <a:gd name="connsiteY3" fmla="*/ 3718209 h 6857997"/>
              <a:gd name="connsiteX4" fmla="*/ 4624700 w 5859484"/>
              <a:gd name="connsiteY4" fmla="*/ 6845880 h 6857997"/>
              <a:gd name="connsiteX5" fmla="*/ 4612896 w 5859484"/>
              <a:gd name="connsiteY5" fmla="*/ 6857997 h 6857997"/>
              <a:gd name="connsiteX6" fmla="*/ 4017658 w 5859484"/>
              <a:gd name="connsiteY6" fmla="*/ 6857997 h 6857997"/>
              <a:gd name="connsiteX7" fmla="*/ 4173230 w 5859484"/>
              <a:gd name="connsiteY7" fmla="*/ 6719623 h 6857997"/>
              <a:gd name="connsiteX8" fmla="*/ 5443583 w 5859484"/>
              <a:gd name="connsiteY8" fmla="*/ 3718209 h 6857997"/>
              <a:gd name="connsiteX9" fmla="*/ 3355352 w 5859484"/>
              <a:gd name="connsiteY9" fmla="*/ 88079 h 6857997"/>
              <a:gd name="connsiteX10" fmla="*/ 0 w 5859484"/>
              <a:gd name="connsiteY10" fmla="*/ 0 h 6857997"/>
              <a:gd name="connsiteX11" fmla="*/ 2941255 w 5859484"/>
              <a:gd name="connsiteY11" fmla="*/ 0 h 6857997"/>
              <a:gd name="connsiteX12" fmla="*/ 3117080 w 5859484"/>
              <a:gd name="connsiteY12" fmla="*/ 88129 h 6857997"/>
              <a:gd name="connsiteX13" fmla="*/ 5324754 w 5859484"/>
              <a:gd name="connsiteY13" fmla="*/ 3718209 h 6857997"/>
              <a:gd name="connsiteX14" fmla="*/ 4089206 w 5859484"/>
              <a:gd name="connsiteY14" fmla="*/ 6637392 h 6857997"/>
              <a:gd name="connsiteX15" fmla="*/ 3841183 w 5859484"/>
              <a:gd name="connsiteY15" fmla="*/ 6857997 h 6857997"/>
              <a:gd name="connsiteX16" fmla="*/ 0 w 5859484"/>
              <a:gd name="connsiteY16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59484" h="6857997">
                <a:moveTo>
                  <a:pt x="3198825" y="0"/>
                </a:moveTo>
                <a:lnTo>
                  <a:pt x="3962351" y="0"/>
                </a:lnTo>
                <a:lnTo>
                  <a:pt x="4129776" y="128761"/>
                </a:lnTo>
                <a:cubicBezTo>
                  <a:pt x="5186152" y="981944"/>
                  <a:pt x="5859484" y="2273123"/>
                  <a:pt x="5859484" y="3718209"/>
                </a:cubicBezTo>
                <a:cubicBezTo>
                  <a:pt x="5859484" y="4922447"/>
                  <a:pt x="5391893" y="6019805"/>
                  <a:pt x="4624700" y="6845880"/>
                </a:cubicBezTo>
                <a:lnTo>
                  <a:pt x="4612896" y="6857997"/>
                </a:lnTo>
                <a:lnTo>
                  <a:pt x="4017658" y="6857997"/>
                </a:lnTo>
                <a:lnTo>
                  <a:pt x="4173230" y="6719623"/>
                </a:lnTo>
                <a:cubicBezTo>
                  <a:pt x="4958119" y="5951494"/>
                  <a:pt x="5443583" y="4890334"/>
                  <a:pt x="5443583" y="3718209"/>
                </a:cubicBezTo>
                <a:cubicBezTo>
                  <a:pt x="5443583" y="2179795"/>
                  <a:pt x="4607295" y="832535"/>
                  <a:pt x="3355352" y="88079"/>
                </a:cubicBezTo>
                <a:close/>
                <a:moveTo>
                  <a:pt x="0" y="0"/>
                </a:moveTo>
                <a:lnTo>
                  <a:pt x="2941255" y="0"/>
                </a:lnTo>
                <a:lnTo>
                  <a:pt x="3117080" y="88129"/>
                </a:lnTo>
                <a:cubicBezTo>
                  <a:pt x="4432070" y="787221"/>
                  <a:pt x="5324754" y="2150692"/>
                  <a:pt x="5324754" y="3718209"/>
                </a:cubicBezTo>
                <a:cubicBezTo>
                  <a:pt x="5324754" y="4858221"/>
                  <a:pt x="4852591" y="5890308"/>
                  <a:pt x="4089206" y="6637392"/>
                </a:cubicBezTo>
                <a:lnTo>
                  <a:pt x="3841183" y="6857997"/>
                </a:lnTo>
                <a:lnTo>
                  <a:pt x="0" y="6857997"/>
                </a:lnTo>
                <a:close/>
              </a:path>
            </a:pathLst>
          </a:cu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 descr="A person with a beard&#10;&#10;Description automatically generated with low confidence">
            <a:extLst>
              <a:ext uri="{FF2B5EF4-FFF2-40B4-BE49-F238E27FC236}">
                <a16:creationId xmlns:a16="http://schemas.microsoft.com/office/drawing/2014/main" id="{7E8B0BD9-3A9C-444C-81BC-7F0BF643335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1736" r="2" b="11762"/>
          <a:stretch/>
        </p:blipFill>
        <p:spPr>
          <a:xfrm>
            <a:off x="1" y="2"/>
            <a:ext cx="6095695" cy="6857997"/>
          </a:xfrm>
          <a:custGeom>
            <a:avLst/>
            <a:gdLst/>
            <a:ahLst/>
            <a:cxnLst/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625142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95468A-4A98-DEE0-EC44-ED93037526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/>
              <a:t>Isaiah 40:28-31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05732-45F4-A630-11F3-50955ED6C3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baseline="30000" dirty="0"/>
              <a:t>28 </a:t>
            </a:r>
            <a:r>
              <a:rPr lang="en-CA" dirty="0"/>
              <a:t>Hast thou not known? hast thou not heard, that the everlasting God, the </a:t>
            </a:r>
            <a:r>
              <a:rPr lang="en-CA" cap="small" dirty="0"/>
              <a:t>Lord</a:t>
            </a:r>
            <a:r>
              <a:rPr lang="en-CA" dirty="0"/>
              <a:t>, the Creator of the ends of the earth, </a:t>
            </a:r>
            <a:r>
              <a:rPr lang="en-CA" dirty="0" err="1">
                <a:solidFill>
                  <a:schemeClr val="accent6"/>
                </a:solidFill>
              </a:rPr>
              <a:t>fainteth</a:t>
            </a:r>
            <a:r>
              <a:rPr lang="en-CA" dirty="0">
                <a:solidFill>
                  <a:schemeClr val="accent6"/>
                </a:solidFill>
              </a:rPr>
              <a:t> not, neither is weary</a:t>
            </a:r>
            <a:r>
              <a:rPr lang="en-CA" dirty="0"/>
              <a:t>? there is no searching of his understanding.</a:t>
            </a:r>
          </a:p>
          <a:p>
            <a:pPr marL="0" indent="0">
              <a:buNone/>
            </a:pPr>
            <a:r>
              <a:rPr lang="en-CA" b="1" baseline="30000" dirty="0"/>
              <a:t>29 </a:t>
            </a:r>
            <a:r>
              <a:rPr lang="en-CA" dirty="0">
                <a:solidFill>
                  <a:schemeClr val="accent6"/>
                </a:solidFill>
              </a:rPr>
              <a:t>He giveth power to the faint</a:t>
            </a:r>
            <a:r>
              <a:rPr lang="en-CA" dirty="0"/>
              <a:t>; and to them that have no might he </a:t>
            </a:r>
            <a:r>
              <a:rPr lang="en-CA" dirty="0" err="1"/>
              <a:t>increaseth</a:t>
            </a:r>
            <a:r>
              <a:rPr lang="en-CA" dirty="0"/>
              <a:t> strength.</a:t>
            </a:r>
          </a:p>
        </p:txBody>
      </p:sp>
    </p:spTree>
    <p:extLst>
      <p:ext uri="{BB962C8B-B14F-4D97-AF65-F5344CB8AC3E}">
        <p14:creationId xmlns:p14="http://schemas.microsoft.com/office/powerpoint/2010/main" val="3081384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9125B-E136-EDE0-E558-94F77FCCE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FCF42-39E0-9080-4DCB-04785D97C3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/>
              <a:t>Isaiah 40:28-31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5FC07-FA32-1D58-7383-C56FF42651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baseline="30000" dirty="0"/>
              <a:t>30 </a:t>
            </a:r>
            <a:r>
              <a:rPr lang="en-CA" dirty="0"/>
              <a:t>Even </a:t>
            </a:r>
            <a:r>
              <a:rPr lang="en-CA" dirty="0">
                <a:solidFill>
                  <a:schemeClr val="accent6"/>
                </a:solidFill>
              </a:rPr>
              <a:t>the youths shall faint and be weary</a:t>
            </a:r>
            <a:r>
              <a:rPr lang="en-CA" dirty="0"/>
              <a:t>, and the young men shall utterly fall:</a:t>
            </a:r>
          </a:p>
          <a:p>
            <a:pPr marL="0" indent="0">
              <a:buNone/>
            </a:pPr>
            <a:r>
              <a:rPr lang="en-CA" b="1" baseline="30000" dirty="0"/>
              <a:t>31 </a:t>
            </a:r>
            <a:r>
              <a:rPr lang="en-CA" dirty="0"/>
              <a:t>But </a:t>
            </a:r>
            <a:r>
              <a:rPr lang="en-CA" dirty="0">
                <a:solidFill>
                  <a:schemeClr val="accent6"/>
                </a:solidFill>
              </a:rPr>
              <a:t>they that wait upon the </a:t>
            </a:r>
            <a:r>
              <a:rPr lang="en-CA" cap="small" dirty="0">
                <a:solidFill>
                  <a:schemeClr val="accent6"/>
                </a:solidFill>
              </a:rPr>
              <a:t>Lord</a:t>
            </a:r>
            <a:r>
              <a:rPr lang="en-CA" dirty="0">
                <a:solidFill>
                  <a:schemeClr val="accent6"/>
                </a:solidFill>
              </a:rPr>
              <a:t> shall renew their strength</a:t>
            </a:r>
            <a:r>
              <a:rPr lang="en-CA" dirty="0"/>
              <a:t>; they shall mount up with wings as eagles; </a:t>
            </a:r>
            <a:r>
              <a:rPr lang="en-CA" dirty="0">
                <a:solidFill>
                  <a:schemeClr val="accent6"/>
                </a:solidFill>
              </a:rPr>
              <a:t>they shall run, and not be weary</a:t>
            </a:r>
            <a:r>
              <a:rPr lang="en-CA" dirty="0"/>
              <a:t>; and they shall walk, and not faint.</a:t>
            </a:r>
          </a:p>
        </p:txBody>
      </p:sp>
    </p:spTree>
    <p:extLst>
      <p:ext uri="{BB962C8B-B14F-4D97-AF65-F5344CB8AC3E}">
        <p14:creationId xmlns:p14="http://schemas.microsoft.com/office/powerpoint/2010/main" val="3998903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29FA8A-75B2-9EFA-B3FD-B5702CD6A6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/>
              <a:t>Psalm 23:1-3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FF7A4-8F07-8284-8558-52369B581B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baseline="30000" dirty="0"/>
              <a:t>1 </a:t>
            </a:r>
            <a:r>
              <a:rPr lang="en-CA" b="1" dirty="0"/>
              <a:t> </a:t>
            </a:r>
            <a:r>
              <a:rPr lang="en-CA" dirty="0"/>
              <a:t>The </a:t>
            </a:r>
            <a:r>
              <a:rPr lang="en-CA" cap="small" dirty="0"/>
              <a:t>Lord</a:t>
            </a:r>
            <a:r>
              <a:rPr lang="en-CA" dirty="0"/>
              <a:t> is my shepherd; I shall not want.</a:t>
            </a:r>
          </a:p>
          <a:p>
            <a:pPr marL="0" indent="0">
              <a:buNone/>
            </a:pPr>
            <a:r>
              <a:rPr lang="en-CA" b="1" baseline="30000" dirty="0"/>
              <a:t>2 </a:t>
            </a:r>
            <a:r>
              <a:rPr lang="en-CA" dirty="0">
                <a:solidFill>
                  <a:schemeClr val="accent6"/>
                </a:solidFill>
              </a:rPr>
              <a:t>He maketh me to lie down in green </a:t>
            </a:r>
            <a:r>
              <a:rPr lang="en-CA" dirty="0"/>
              <a:t>pastures: he leadeth me beside the still waters.</a:t>
            </a:r>
          </a:p>
          <a:p>
            <a:pPr marL="0" indent="0">
              <a:buNone/>
            </a:pPr>
            <a:r>
              <a:rPr lang="en-CA" b="1" baseline="30000" dirty="0"/>
              <a:t>3 </a:t>
            </a:r>
            <a:r>
              <a:rPr lang="en-CA" dirty="0"/>
              <a:t>He restoreth my soul: he leadeth me in the paths of righteousness for his name's sake.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218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9A78-8446-0DF7-7656-22F85780A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48DD36-F048-ECE2-D5A1-F749B24D2C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/>
              <a:t>Psalm 127:1-2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64455-AEF0-1367-10AF-C3E1521F46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baseline="30000" dirty="0"/>
              <a:t>1 </a:t>
            </a:r>
            <a:r>
              <a:rPr lang="en-CA" b="1" dirty="0"/>
              <a:t> </a:t>
            </a:r>
            <a:r>
              <a:rPr lang="en-CA" dirty="0"/>
              <a:t>Except the </a:t>
            </a:r>
            <a:r>
              <a:rPr lang="en-CA" cap="small" dirty="0"/>
              <a:t>Lord</a:t>
            </a:r>
            <a:r>
              <a:rPr lang="en-CA" dirty="0"/>
              <a:t> build the house, </a:t>
            </a:r>
            <a:r>
              <a:rPr lang="en-CA" dirty="0">
                <a:solidFill>
                  <a:schemeClr val="accent6"/>
                </a:solidFill>
              </a:rPr>
              <a:t>they labour in vain that build it</a:t>
            </a:r>
            <a:r>
              <a:rPr lang="en-CA" dirty="0"/>
              <a:t>: except the </a:t>
            </a:r>
            <a:r>
              <a:rPr lang="en-CA" cap="small" dirty="0"/>
              <a:t>Lord</a:t>
            </a:r>
            <a:r>
              <a:rPr lang="en-CA" dirty="0"/>
              <a:t> keep the city, </a:t>
            </a:r>
            <a:r>
              <a:rPr lang="en-CA" dirty="0">
                <a:solidFill>
                  <a:schemeClr val="accent6"/>
                </a:solidFill>
              </a:rPr>
              <a:t>the watchman </a:t>
            </a:r>
            <a:r>
              <a:rPr lang="en-CA" dirty="0" err="1">
                <a:solidFill>
                  <a:schemeClr val="accent6"/>
                </a:solidFill>
              </a:rPr>
              <a:t>waketh</a:t>
            </a:r>
            <a:r>
              <a:rPr lang="en-CA" dirty="0">
                <a:solidFill>
                  <a:schemeClr val="accent6"/>
                </a:solidFill>
              </a:rPr>
              <a:t> but in vain.</a:t>
            </a:r>
          </a:p>
          <a:p>
            <a:pPr marL="0" indent="0">
              <a:buNone/>
            </a:pPr>
            <a:r>
              <a:rPr lang="en-CA" b="1" baseline="30000" dirty="0"/>
              <a:t>2 </a:t>
            </a:r>
            <a:r>
              <a:rPr lang="en-CA" dirty="0"/>
              <a:t>It is vain for you to rise up early, to sit up late, to eat the bread of sorrows: </a:t>
            </a:r>
            <a:r>
              <a:rPr lang="en-CA" dirty="0">
                <a:solidFill>
                  <a:schemeClr val="accent6"/>
                </a:solidFill>
              </a:rPr>
              <a:t>for so he giveth his beloved sleep.</a:t>
            </a:r>
          </a:p>
        </p:txBody>
      </p:sp>
    </p:spTree>
    <p:extLst>
      <p:ext uri="{BB962C8B-B14F-4D97-AF65-F5344CB8AC3E}">
        <p14:creationId xmlns:p14="http://schemas.microsoft.com/office/powerpoint/2010/main" val="2261861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83EE3-96F1-454A-B4EA-409104DA6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FC0CB-BF75-41C4-BA5B-D8C52E4A3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Why is it that so many of God's children, in this very last hour, feel :</a:t>
            </a:r>
          </a:p>
          <a:p>
            <a:r>
              <a:rPr lang="en-CA" dirty="0"/>
              <a:t>empty, </a:t>
            </a:r>
          </a:p>
          <a:p>
            <a:r>
              <a:rPr lang="en-CA" dirty="0"/>
              <a:t>tired, </a:t>
            </a:r>
          </a:p>
          <a:p>
            <a:r>
              <a:rPr lang="en-CA" dirty="0"/>
              <a:t>dried up </a:t>
            </a:r>
          </a:p>
          <a:p>
            <a:r>
              <a:rPr lang="en-CA" dirty="0"/>
              <a:t>— and do not know that the Shepherd Himself is inviting them to lie down?</a:t>
            </a:r>
          </a:p>
        </p:txBody>
      </p:sp>
    </p:spTree>
    <p:extLst>
      <p:ext uri="{BB962C8B-B14F-4D97-AF65-F5344CB8AC3E}">
        <p14:creationId xmlns:p14="http://schemas.microsoft.com/office/powerpoint/2010/main" val="2742685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BF554-6B7E-4F2E-A7D9-55CA2B80A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BE13F-DF57-4859-B02A-95F90BBF7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We are living in the Laodicean age — </a:t>
            </a:r>
          </a:p>
          <a:p>
            <a:r>
              <a:rPr lang="en-CA" dirty="0"/>
              <a:t>an age of rich churches and </a:t>
            </a:r>
          </a:p>
          <a:p>
            <a:r>
              <a:rPr lang="en-CA" dirty="0"/>
              <a:t>tired saints, </a:t>
            </a:r>
          </a:p>
          <a:p>
            <a:r>
              <a:rPr lang="en-CA" dirty="0"/>
              <a:t>of busy programs and empty altars, </a:t>
            </a:r>
          </a:p>
          <a:p>
            <a:r>
              <a:rPr lang="en-CA" dirty="0"/>
              <a:t>of believers who can quote the Message but cannot rest in the Messenger's Christ.</a:t>
            </a:r>
          </a:p>
        </p:txBody>
      </p:sp>
    </p:spTree>
    <p:extLst>
      <p:ext uri="{BB962C8B-B14F-4D97-AF65-F5344CB8AC3E}">
        <p14:creationId xmlns:p14="http://schemas.microsoft.com/office/powerpoint/2010/main" val="2450238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29EA5-77E5-81BD-5EAA-610867BFE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6D056-AE95-E94C-A81B-23CE7BE98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26495-CD15-B31D-C2E1-D3CBD7AE6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The devil cannot take the Bride's salvation, </a:t>
            </a:r>
          </a:p>
          <a:p>
            <a:r>
              <a:rPr lang="en-CA" dirty="0"/>
              <a:t>so he attacks her strength: </a:t>
            </a:r>
          </a:p>
          <a:p>
            <a:r>
              <a:rPr lang="en-CA" dirty="0"/>
              <a:t>he wears her out, </a:t>
            </a:r>
          </a:p>
          <a:p>
            <a:r>
              <a:rPr lang="en-CA" dirty="0"/>
              <a:t>pushes her past her capacity, </a:t>
            </a:r>
          </a:p>
          <a:p>
            <a:r>
              <a:rPr lang="en-CA" dirty="0"/>
              <a:t>silences her prayer life through exhaustion </a:t>
            </a:r>
          </a:p>
        </p:txBody>
      </p:sp>
    </p:spTree>
    <p:extLst>
      <p:ext uri="{BB962C8B-B14F-4D97-AF65-F5344CB8AC3E}">
        <p14:creationId xmlns:p14="http://schemas.microsoft.com/office/powerpoint/2010/main" val="344931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4F17B-AA26-09C2-0272-11EB70E8C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BE775-0777-0C0D-3F36-4E6B36FDD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436D9-E575-AB44-9A52-975D1954E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Brother Branham said the whole Christian principle is based upon rest — and in this hour, Satan is pushing her into a burnout. But the Shepherd is walking through His flock tonight, laying tired sheep down in green pastures.</a:t>
            </a:r>
          </a:p>
        </p:txBody>
      </p:sp>
    </p:spTree>
    <p:extLst>
      <p:ext uri="{BB962C8B-B14F-4D97-AF65-F5344CB8AC3E}">
        <p14:creationId xmlns:p14="http://schemas.microsoft.com/office/powerpoint/2010/main" val="3831623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47209-F85E-9117-1288-8F15FBEBD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780CA-4B0F-517B-83D2-7A6E8EAAE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652C2-96DC-089A-3CBF-AAFC63550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My story of Burnout.</a:t>
            </a:r>
          </a:p>
        </p:txBody>
      </p:sp>
    </p:spTree>
    <p:extLst>
      <p:ext uri="{BB962C8B-B14F-4D97-AF65-F5344CB8AC3E}">
        <p14:creationId xmlns:p14="http://schemas.microsoft.com/office/powerpoint/2010/main" val="2354604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99CE4-5F9A-4650-A3F5-DED4181C1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Vacation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5B2DD-AB1D-4346-A545-3FF65C4AE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vacation is a period of time away from work, school, or daily responsibilities, typically used for rest, travel, or recreation. It is a scheduled break or "leave of absence" to relax or engage in leisure activities.</a:t>
            </a:r>
          </a:p>
        </p:txBody>
      </p:sp>
    </p:spTree>
    <p:extLst>
      <p:ext uri="{BB962C8B-B14F-4D97-AF65-F5344CB8AC3E}">
        <p14:creationId xmlns:p14="http://schemas.microsoft.com/office/powerpoint/2010/main" val="2041352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CD5A9-80CF-4BFF-9187-DE8F08B68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self Employed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77A57-453D-428B-BDBB-E90AE1D5B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Zeal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79404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80F91-5AC9-4E4C-A1FB-813999090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5AD4-39D4-4A2B-8D2E-DCF08F2AB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possible causes</a:t>
            </a:r>
          </a:p>
          <a:p>
            <a:r>
              <a:rPr lang="en-US" dirty="0"/>
              <a:t>Identify cause and effect</a:t>
            </a:r>
          </a:p>
          <a:p>
            <a:r>
              <a:rPr lang="en-US" dirty="0"/>
              <a:t>Verify analysis with data (Give examples)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41356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493E-470A-42ED-9F85-A83F6EA1A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Plot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021AE-09D3-45CC-8380-92661864C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character should have 2 needs or problems </a:t>
            </a:r>
          </a:p>
          <a:p>
            <a:r>
              <a:rPr lang="en-US" dirty="0"/>
              <a:t>– one obvious, one hidden</a:t>
            </a:r>
          </a:p>
          <a:p>
            <a:r>
              <a:rPr lang="en-US" dirty="0"/>
              <a:t>Hidden need related to emotions, wounds in the past</a:t>
            </a:r>
          </a:p>
          <a:p>
            <a:r>
              <a:rPr lang="en-US" dirty="0"/>
              <a:t>Inner journey = Character Change</a:t>
            </a:r>
          </a:p>
          <a:p>
            <a:r>
              <a:rPr lang="en-US" dirty="0"/>
              <a:t>Character lives in a world has needs and a personality</a:t>
            </a:r>
          </a:p>
        </p:txBody>
      </p:sp>
    </p:spTree>
    <p:extLst>
      <p:ext uri="{BB962C8B-B14F-4D97-AF65-F5344CB8AC3E}">
        <p14:creationId xmlns:p14="http://schemas.microsoft.com/office/powerpoint/2010/main" val="742124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F8D0E-18B9-450B-A51E-14854E2D9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2A77D-0381-4F23-B933-2743AE431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Evaluate all possible solutions</a:t>
            </a:r>
          </a:p>
          <a:p>
            <a:r>
              <a:rPr lang="en-US" dirty="0"/>
              <a:t>Make it relevant to the hearer</a:t>
            </a:r>
          </a:p>
          <a:p>
            <a:r>
              <a:rPr lang="en-US" dirty="0"/>
              <a:t>Identify barriers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25161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3F1F2-924C-48E1-8521-1A8F30B30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 a plan to test solution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DAD79-7840-4302-989E-9F4F8BE25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 (Keeps the users interested)</a:t>
            </a:r>
          </a:p>
          <a:p>
            <a:r>
              <a:rPr lang="en-US" dirty="0"/>
              <a:t>Overriding concern</a:t>
            </a:r>
          </a:p>
          <a:p>
            <a:r>
              <a:rPr lang="en-US" dirty="0"/>
              <a:t>A dramatic question (It is related to the goal)</a:t>
            </a:r>
          </a:p>
          <a:p>
            <a:r>
              <a:rPr lang="en-US" dirty="0"/>
              <a:t>Is it going to work?</a:t>
            </a:r>
          </a:p>
          <a:p>
            <a:r>
              <a:rPr lang="en-US" dirty="0"/>
              <a:t>Why, Who did it?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99992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7F34A-FBE3-491D-84B4-4120DA67B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FF64F-A388-432D-B03E-10B0105C9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new way</a:t>
            </a:r>
          </a:p>
          <a:p>
            <a:r>
              <a:rPr lang="en-US" dirty="0"/>
              <a:t>Develop a plan to implement and control</a:t>
            </a:r>
          </a:p>
          <a:p>
            <a:r>
              <a:rPr lang="en-US" dirty="0"/>
              <a:t>Assign dates and people actions</a:t>
            </a:r>
          </a:p>
        </p:txBody>
      </p:sp>
    </p:spTree>
    <p:extLst>
      <p:ext uri="{BB962C8B-B14F-4D97-AF65-F5344CB8AC3E}">
        <p14:creationId xmlns:p14="http://schemas.microsoft.com/office/powerpoint/2010/main" val="3679169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C143C-ABB8-4AE4-94A0-56D7B214B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E44C4-8B6C-4BC4-A099-605352B2E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Complications that can arise to prevent reaching the goal (at least 3)</a:t>
            </a:r>
          </a:p>
          <a:p>
            <a:r>
              <a:rPr lang="en-US" dirty="0"/>
              <a:t>Control (The stakes, What are you risking, Standardize (Rewards))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38633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7A8A1-AA51-44CC-9C96-B983B99D9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Exhort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DEEB5-5D7D-4149-803B-4DFBE738C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Promises </a:t>
            </a:r>
          </a:p>
          <a:p>
            <a:r>
              <a:rPr lang="en-US" dirty="0"/>
              <a:t>A declaration or assurance that God will do a particular thing or that a particular thing will happen.</a:t>
            </a:r>
          </a:p>
          <a:p>
            <a:r>
              <a:rPr lang="en-US" dirty="0"/>
              <a:t>Exhort</a:t>
            </a:r>
          </a:p>
          <a:p>
            <a:r>
              <a:rPr lang="en-US" dirty="0"/>
              <a:t>Strongly encourage or urge (someone) to do something.</a:t>
            </a:r>
          </a:p>
        </p:txBody>
      </p:sp>
    </p:spTree>
    <p:extLst>
      <p:ext uri="{BB962C8B-B14F-4D97-AF65-F5344CB8AC3E}">
        <p14:creationId xmlns:p14="http://schemas.microsoft.com/office/powerpoint/2010/main" val="2369006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87A19-CC48-4196-B766-56123B6F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Rebuke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921F7-ABD7-4F78-938E-38F7E149A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Reproof</a:t>
            </a:r>
          </a:p>
          <a:p>
            <a:r>
              <a:rPr lang="en-US" dirty="0"/>
              <a:t>Correct with authority and sharply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43831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0442B-E420-4E10-BDE2-891D0AE52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Deeper Look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EE068-6A58-495B-B589-2A452D8D2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prophetic</a:t>
            </a:r>
          </a:p>
          <a:p>
            <a:r>
              <a:rPr lang="en-US" dirty="0"/>
              <a:t>Foretelling events</a:t>
            </a:r>
          </a:p>
          <a:p>
            <a:r>
              <a:rPr lang="en-US" dirty="0"/>
              <a:t>The revelatory</a:t>
            </a:r>
          </a:p>
          <a:p>
            <a:r>
              <a:rPr lang="en-US" dirty="0"/>
              <a:t>Expose more, typically hidden parts</a:t>
            </a:r>
          </a:p>
          <a:p>
            <a:r>
              <a:rPr lang="en-US" dirty="0"/>
              <a:t>Doctrine</a:t>
            </a:r>
          </a:p>
          <a:p>
            <a:r>
              <a:rPr lang="en-US" dirty="0"/>
              <a:t>a belief or set of beliefs held and taught by a Church,</a:t>
            </a:r>
          </a:p>
        </p:txBody>
      </p:sp>
    </p:spTree>
    <p:extLst>
      <p:ext uri="{BB962C8B-B14F-4D97-AF65-F5344CB8AC3E}">
        <p14:creationId xmlns:p14="http://schemas.microsoft.com/office/powerpoint/2010/main" val="1069316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0C18A-64E5-4991-BC42-5D82FCDD1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Elements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81492-6CBB-4E4D-8FEA-10CF07F54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Humanistic – Hope</a:t>
            </a:r>
          </a:p>
          <a:p>
            <a:r>
              <a:rPr lang="en-US" dirty="0"/>
              <a:t>2. Divine revelation – Anchored in the heart</a:t>
            </a:r>
          </a:p>
          <a:p>
            <a:r>
              <a:rPr lang="en-US" dirty="0"/>
              <a:t>3. Vision – Thus saith the Lord, Perfectly positive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67057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9ACA4-1D4B-4A14-BE9C-5F954AAB9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0EAA3-D1C7-442A-ACF7-D86B05257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Help the character</a:t>
            </a:r>
          </a:p>
          <a:p>
            <a:r>
              <a:rPr lang="en-US" dirty="0"/>
              <a:t>Do not leave him hopeless</a:t>
            </a:r>
          </a:p>
          <a:p>
            <a:r>
              <a:rPr lang="en-US" dirty="0"/>
              <a:t>Lesson</a:t>
            </a:r>
          </a:p>
          <a:p>
            <a:r>
              <a:rPr lang="en-US" dirty="0"/>
              <a:t>Epiphany</a:t>
            </a:r>
          </a:p>
          <a:p>
            <a:r>
              <a:rPr lang="en-US" dirty="0"/>
              <a:t>See things in a new light</a:t>
            </a:r>
          </a:p>
          <a:p>
            <a:r>
              <a:rPr lang="en-US" dirty="0"/>
              <a:t>Develop list of unsolved issues</a:t>
            </a:r>
          </a:p>
          <a:p>
            <a:r>
              <a:rPr lang="en-US" dirty="0"/>
              <a:t>Summarize (Give hope)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55052851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the Fire Dies 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word for the weary saint</a:t>
            </a:r>
          </a:p>
          <a:p>
            <a:r>
              <a:t>Based on 1 Kings 19 and Matthew 11</a:t>
            </a:r>
          </a:p>
          <a:p>
            <a:r>
              <a:t>Scripture: "It is enough" — 1 Kings 19:4</a:t>
            </a:r>
          </a:p>
          <a:p>
            <a:r>
              <a:t>You are seen. You are loved.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Something the Bible Understands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word "burnout" is modern</a:t>
            </a:r>
          </a:p>
          <a:p>
            <a:r>
              <a:t>The experience is as old as Eden</a:t>
            </a:r>
          </a:p>
          <a:p>
            <a:r>
              <a:t>God's greatest servants knew this valley</a:t>
            </a:r>
          </a:p>
          <a:p>
            <a:r>
              <a:t>He never once rebuked them for it</a:t>
            </a:r>
          </a:p>
          <a:p>
            <a:r>
              <a:t>Tonight we find ourselves in good company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 Are Not the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Moses cried, "It is too heavy" (Num 11:14)</a:t>
            </a:r>
          </a:p>
          <a:p>
            <a:r>
              <a:t>Elijah asked God to take his life</a:t>
            </a:r>
          </a:p>
          <a:p>
            <a:r>
              <a:t>David wept until his bed swam</a:t>
            </a:r>
          </a:p>
          <a:p>
            <a:r>
              <a:t>Jeremiah tried to quit preaching</a:t>
            </a:r>
          </a:p>
          <a:p>
            <a:r>
              <a:t>Paul "despaired even of life" (2 Cor 1:8)</a:t>
            </a:r>
          </a:p>
          <a:p>
            <a:r>
              <a:t>Even Jesus grew weary (John 4:6)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Elijah After the Victory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 had just called down fire</a:t>
            </a:r>
          </a:p>
          <a:p>
            <a:r>
              <a:t>He ran a day into the wilderness</a:t>
            </a:r>
          </a:p>
          <a:p>
            <a:r>
              <a:t>He sat beneath a juniper tree</a:t>
            </a:r>
          </a:p>
          <a:p>
            <a:r>
              <a:t>"Take away my life" — 1 Kings 19:4</a:t>
            </a:r>
          </a:p>
          <a:p>
            <a:r>
              <a:t>Great victory often precedes great weariness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God's First Response: Food and Sleep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sermon. No correction. No demand.</a:t>
            </a:r>
          </a:p>
          <a:p>
            <a:r>
              <a:t>"Arise and eat" — 1 Kings 19:5</a:t>
            </a:r>
          </a:p>
          <a:p>
            <a:r>
              <a:t>An angel baked him bread</a:t>
            </a:r>
          </a:p>
          <a:p>
            <a:r>
              <a:t>He slept. He ate. He slept again.</a:t>
            </a:r>
          </a:p>
          <a:p>
            <a:r>
              <a:t>Sometimes the holiest act is rest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Juniper Tree Is a Gift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"I'm glad that there is a juniper tree"</a:t>
            </a:r>
          </a:p>
          <a:p>
            <a:r>
              <a:t>— Bro. Branham, What hearest thou, Elijah?</a:t>
            </a:r>
          </a:p>
          <a:p>
            <a:r>
              <a:t>God planted it there on purpose</a:t>
            </a:r>
          </a:p>
          <a:p>
            <a:r>
              <a:t>A place to get quiet before Him</a:t>
            </a:r>
          </a:p>
          <a:p>
            <a:r>
              <a:t>Your breakdown may be an appointment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Prophet Was There Too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"Frankly, I'm right under it now"</a:t>
            </a:r>
          </a:p>
          <a:p>
            <a:r>
              <a:t>— Bro. Branham, What doest thou here?</a:t>
            </a:r>
          </a:p>
          <a:p>
            <a:r>
              <a:t>He testified of his darkest hour</a:t>
            </a:r>
          </a:p>
          <a:p>
            <a:r>
              <a:t>God held back his hand from harm</a:t>
            </a:r>
          </a:p>
          <a:p>
            <a:r>
              <a:t>If the prophet wept, you may too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Root: Carrying What God Never Gave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Jethro to Moses: "Thou wilt surely wear away"</a:t>
            </a:r>
          </a:p>
          <a:p>
            <a:r>
              <a:t>Exodus 18:18 — "too heavy for thee"</a:t>
            </a:r>
          </a:p>
          <a:p>
            <a:r>
              <a:t>You were never meant to carry alone</a:t>
            </a:r>
          </a:p>
          <a:p>
            <a:r>
              <a:t>God sent seventy elders to help</a:t>
            </a:r>
          </a:p>
          <a:p>
            <a:r>
              <a:t>Help is not weakness; it is wisdom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Root: Strength That Is Not 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"Even the youths shall faint" — Isaiah 40:30</a:t>
            </a:r>
          </a:p>
          <a:p>
            <a:r>
              <a:t>Self-strength always runs dry</a:t>
            </a:r>
          </a:p>
          <a:p>
            <a:r>
              <a:t>Waiting on the Lord renews us</a:t>
            </a:r>
          </a:p>
          <a:p>
            <a:r>
              <a:t>Eagles mount up; they do not strain</a:t>
            </a:r>
          </a:p>
          <a:p>
            <a:r>
              <a:t>Rest is the soil of new strength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Quiet Day with Jesus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"Come ye apart… and rest awhile" — Mark 6:31</a:t>
            </a:r>
          </a:p>
          <a:p>
            <a:r>
              <a:t>The disciples had no time to eat</a:t>
            </a:r>
          </a:p>
          <a:p>
            <a:r>
              <a:t>Jesus prescribed a desert place</a:t>
            </a:r>
          </a:p>
          <a:p>
            <a:r>
              <a:t>Not laziness — holy recovery</a:t>
            </a:r>
          </a:p>
          <a:p>
            <a:r>
              <a:t>Even the Master needed the mountain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Still Small Voice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in the wind, earthquake, or fire</a:t>
            </a:r>
          </a:p>
          <a:p>
            <a:r>
              <a:t>A quiet whisper after the storm</a:t>
            </a:r>
          </a:p>
          <a:p>
            <a:r>
              <a:t>God meets us in gentleness</a:t>
            </a:r>
          </a:p>
          <a:p>
            <a:r>
              <a:t>He asks, "What doest thou here?"</a:t>
            </a:r>
          </a:p>
          <a:p>
            <a:r>
              <a:t>He is not shouting at you tonight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Rock in a Weary Land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Isaiah 32:2 — shelter in the storm</a:t>
            </a:r>
          </a:p>
          <a:p>
            <a:r>
              <a:t>"If you are weary, speak to the rock"</a:t>
            </a:r>
          </a:p>
          <a:p>
            <a:r>
              <a:t>— Bro. Branham, Without money or without price</a:t>
            </a:r>
          </a:p>
          <a:p>
            <a:r>
              <a:t>You don't have to pay Him</a:t>
            </a:r>
          </a:p>
          <a:p>
            <a:r>
              <a:t>Just speak. He hears the weakest voice.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Come Unto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"All ye that labour and are heavy laden"</a:t>
            </a:r>
          </a:p>
          <a:p>
            <a:r>
              <a:t>Matthew 11:28 — His open invitation</a:t>
            </a:r>
          </a:p>
          <a:p>
            <a:r>
              <a:t>The rest Jesus gives is the Holy Ghost</a:t>
            </a:r>
          </a:p>
          <a:p>
            <a:r>
              <a:t>"Take my yoke… my burden is light"</a:t>
            </a:r>
          </a:p>
          <a:p>
            <a:r>
              <a:t>He carries the heavy end of every yoke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Cast Your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Peter 5:7 — cast it on Him</a:t>
            </a:r>
          </a:p>
          <a:p>
            <a:r>
              <a:t>"For he careth for you"</a:t>
            </a:r>
          </a:p>
          <a:p>
            <a:r>
              <a:t>Not some of it — all of it</a:t>
            </a:r>
          </a:p>
          <a:p>
            <a:r>
              <a:t>Psalm 55:22 — He will sustain thee</a:t>
            </a:r>
          </a:p>
          <a:p>
            <a:r>
              <a:t>You do not carry Him; He carries you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Weary in Well Doing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Galatians 6:9 — "be not weary"</a:t>
            </a:r>
          </a:p>
          <a:p>
            <a:r>
              <a:t>"In due season we shall reap"</a:t>
            </a:r>
          </a:p>
          <a:p>
            <a:r>
              <a:t>Hebrews 12:3 — consider Him who endured</a:t>
            </a:r>
          </a:p>
          <a:p>
            <a:r>
              <a:t>Your labor is not in vain</a:t>
            </a:r>
          </a:p>
          <a:p>
            <a:r>
              <a:t>The harvest is nearer than you think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Arise and 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journey is too great for thee (1 Kings 19:7)</a:t>
            </a:r>
          </a:p>
          <a:p>
            <a:r>
              <a:t>But He has bread for your table</a:t>
            </a:r>
          </a:p>
          <a:p>
            <a:r>
              <a:t>He has a juniper for your shade</a:t>
            </a:r>
          </a:p>
          <a:p>
            <a:r>
              <a:t>He has a whisper for your heart</a:t>
            </a:r>
          </a:p>
          <a:p>
            <a:r>
              <a:t>Beloved, the fire is not out — rest first</a:t>
            </a:r>
          </a:p>
          <a:p>
            <a:r>
              <a:t>"They that wait upon the LORD shall renew their strength"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68A8D578-1DD5-C34F-AA42-ED3EEC522F84}" vid="{526030E3-F4F7-9C41-A934-B800D212E2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</TotalTime>
  <Words>751</Words>
  <Application>Microsoft Macintosh PowerPoint</Application>
  <PresentationFormat>Widescreen</PresentationFormat>
  <Paragraphs>97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Sagona Book</vt:lpstr>
      <vt:lpstr>Office Theme</vt:lpstr>
      <vt:lpstr>God’s solutions to burnout</vt:lpstr>
      <vt:lpstr>PowerPoint Presentation</vt:lpstr>
      <vt:lpstr>PowerPoint Presentation</vt:lpstr>
      <vt:lpstr>PowerPoint Presentation</vt:lpstr>
      <vt:lpstr>PowerPoint Presentation</vt:lpstr>
      <vt:lpstr>Why</vt:lpstr>
      <vt:lpstr>Settings</vt:lpstr>
      <vt:lpstr>Settings</vt:lpstr>
      <vt:lpstr>Settings</vt:lpstr>
      <vt:lpstr>Settings</vt:lpstr>
      <vt:lpstr>Vacation</vt:lpstr>
      <vt:lpstr>For self Employed</vt:lpstr>
      <vt:lpstr>Analysis</vt:lpstr>
      <vt:lpstr>The Plot</vt:lpstr>
      <vt:lpstr>Action</vt:lpstr>
      <vt:lpstr>Develop a plan to test solution</vt:lpstr>
      <vt:lpstr>outcome</vt:lpstr>
      <vt:lpstr>Implement</vt:lpstr>
      <vt:lpstr>Exhort</vt:lpstr>
      <vt:lpstr>Rebuke</vt:lpstr>
      <vt:lpstr>Deeper Look</vt:lpstr>
      <vt:lpstr>3 Elements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Guy Baseke</dc:creator>
  <cp:lastModifiedBy>Guy Baseke</cp:lastModifiedBy>
  <cp:revision>1</cp:revision>
  <dcterms:created xsi:type="dcterms:W3CDTF">2026-04-22T00:49:37Z</dcterms:created>
  <dcterms:modified xsi:type="dcterms:W3CDTF">2026-04-22T02:16:42Z</dcterms:modified>
</cp:coreProperties>
</file>